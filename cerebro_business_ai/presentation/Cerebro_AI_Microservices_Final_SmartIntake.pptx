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8dd3ad07349b2" /><Relationship Type="http://schemas.openxmlformats.org/officeDocument/2006/relationships/extended-properties" Target="/docProps/app.xml" Id="R189bcc5e5bf74cee" /><Relationship Type="http://schemas.openxmlformats.org/officeDocument/2006/relationships/officeDocument" Target="/ppt/presentation.xml" Id="Rc7935ee5e663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6230ffda84cb7"/>
  </p:sldMasterIdLst>
  <p:notesMasterIdLst>
    <p:notesMasterId xmlns:r="http://schemas.openxmlformats.org/officeDocument/2006/relationships" r:id="R403ea4e7685f40fe"/>
  </p:notesMasterIdLst>
  <p:sldIdLst>
    <p:sldId xmlns:r="http://schemas.openxmlformats.org/officeDocument/2006/relationships" id="256" r:id="R98916e44ce9941b3"/>
    <p:sldId xmlns:r="http://schemas.openxmlformats.org/officeDocument/2006/relationships" id="257" r:id="Rdef406e6bb674c64"/>
    <p:sldId xmlns:r="http://schemas.openxmlformats.org/officeDocument/2006/relationships" id="258" r:id="R38ad916d3a5d472d"/>
    <p:sldId xmlns:r="http://schemas.openxmlformats.org/officeDocument/2006/relationships" id="259" r:id="R803faf1c21b74de1"/>
    <p:sldId xmlns:r="http://schemas.openxmlformats.org/officeDocument/2006/relationships" id="260" r:id="R0d4b7e80b3b7476f"/>
    <p:sldId xmlns:r="http://schemas.openxmlformats.org/officeDocument/2006/relationships" id="261" r:id="R5e136296a22f4d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9192290fa54c5c" /><Relationship Type="http://schemas.openxmlformats.org/officeDocument/2006/relationships/slideMaster" Target="/ppt/slideMasters/slideMaster1.xml" Id="R1e96230ffda84cb7" /><Relationship Type="http://schemas.openxmlformats.org/officeDocument/2006/relationships/notesMaster" Target="/ppt/notesMasters/notesMaster1.xml" Id="R403ea4e7685f40fe" /><Relationship Type="http://schemas.openxmlformats.org/officeDocument/2006/relationships/presProps" Target="/ppt/presProps.xml" Id="Rf85bf3212c7e40c2" /><Relationship Type="http://schemas.openxmlformats.org/officeDocument/2006/relationships/tableStyles" Target="/ppt/tableStyles.xml" Id="Racb887ceba334af6" /><Relationship Type="http://schemas.openxmlformats.org/officeDocument/2006/relationships/slide" Target="/ppt/slides/slide1.xml" Id="R98916e44ce9941b3" /><Relationship Type="http://schemas.openxmlformats.org/officeDocument/2006/relationships/slide" Target="/ppt/slides/slide2.xml" Id="Rdef406e6bb674c64" /><Relationship Type="http://schemas.openxmlformats.org/officeDocument/2006/relationships/slide" Target="/ppt/slides/slide3.xml" Id="R38ad916d3a5d472d" /><Relationship Type="http://schemas.openxmlformats.org/officeDocument/2006/relationships/slide" Target="/ppt/slides/slide4.xml" Id="R803faf1c21b74de1" /><Relationship Type="http://schemas.openxmlformats.org/officeDocument/2006/relationships/slide" Target="/ppt/slides/slide5.xml" Id="R0d4b7e80b3b7476f" /><Relationship Type="http://schemas.openxmlformats.org/officeDocument/2006/relationships/slide" Target="/ppt/slides/slide6.xml" Id="R5e136296a22f4d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abb12ef6448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f3c46097b4cf8" /><Relationship Type="http://schemas.openxmlformats.org/officeDocument/2006/relationships/notesMaster" Target="/ppt/notesMasters/notesMaster1.xml" Id="Rd84465b83436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53160b4ad2416d" /><Relationship Type="http://schemas.openxmlformats.org/officeDocument/2006/relationships/notesMaster" Target="/ppt/notesMasters/notesMaster1.xml" Id="R20fb356b3d3f44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0166def62047fc" /><Relationship Type="http://schemas.openxmlformats.org/officeDocument/2006/relationships/notesMaster" Target="/ppt/notesMasters/notesMaster1.xml" Id="Ree8dbfbf14a544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e5ce53d0b147a0" /><Relationship Type="http://schemas.openxmlformats.org/officeDocument/2006/relationships/notesMaster" Target="/ppt/notesMasters/notesMaster1.xml" Id="R8d68bfd5be5949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58529ba0543cd" /><Relationship Type="http://schemas.openxmlformats.org/officeDocument/2006/relationships/notesMaster" Target="/ppt/notesMasters/notesMaster1.xml" Id="R272be8bd6cd34f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cb67e5cd6444f" /><Relationship Type="http://schemas.openxmlformats.org/officeDocument/2006/relationships/notesMaster" Target="/ppt/notesMasters/notesMaster1.xml" Id="R14b631a7e1774d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cb538b8f34e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e74ad60e143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3404eae9747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17a67281c49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6b17adabc43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3952fe79945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720D54-0A0A-4457-AC3D-2C40C7DA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06E313-E210-4D8C-A5A1-FA4E776B7A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167E73-0363-4F98-9727-802CBAD49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A2D44B-4281-4C6C-A2C9-630C09429C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F2456F-5F47-422C-810A-B387FEBA3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6940B2-1216-4B76-8312-58349C5DC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CB7782-1ED2-418A-B50C-E415791CB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11A8D7-21CF-4DCC-9692-3B9135EA8D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F62932-7744-4620-8D6A-FB4910EDC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FDB336-2F5D-4DF1-AF1B-C119BCC660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395332392d4ce0" /><Relationship Type="http://schemas.openxmlformats.org/officeDocument/2006/relationships/slideLayout" Target="/ppt/slideLayouts/slideLayout1.xml" Id="Rb7a6d83ef7014921" /><Relationship Type="http://schemas.openxmlformats.org/officeDocument/2006/relationships/slideLayout" Target="/ppt/slideLayouts/slideLayout2.xml" Id="R892da0f8715c4c69" /><Relationship Type="http://schemas.openxmlformats.org/officeDocument/2006/relationships/slideLayout" Target="/ppt/slideLayouts/slideLayout3.xml" Id="R2cf1f754e5484bc9" /><Relationship Type="http://schemas.openxmlformats.org/officeDocument/2006/relationships/slideLayout" Target="/ppt/slideLayouts/slideLayout4.xml" Id="R87a1798f6f3a43d3" /><Relationship Type="http://schemas.openxmlformats.org/officeDocument/2006/relationships/slideLayout" Target="/ppt/slideLayouts/slideLayout5.xml" Id="R935671e7548349ad" /><Relationship Type="http://schemas.openxmlformats.org/officeDocument/2006/relationships/slideLayout" Target="/ppt/slideLayouts/slideLayout6.xml" Id="R844126a800f240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a6d83ef7014921"/>
    <p:sldLayoutId xmlns:r="http://schemas.openxmlformats.org/officeDocument/2006/relationships" id="2147483650" r:id="R892da0f8715c4c69"/>
    <p:sldLayoutId xmlns:r="http://schemas.openxmlformats.org/officeDocument/2006/relationships" id="2147483651" r:id="R2cf1f754e5484bc9"/>
    <p:sldLayoutId xmlns:r="http://schemas.openxmlformats.org/officeDocument/2006/relationships" id="2147483652" r:id="R87a1798f6f3a43d3"/>
    <p:sldLayoutId xmlns:r="http://schemas.openxmlformats.org/officeDocument/2006/relationships" id="2147483653" r:id="R935671e7548349ad"/>
    <p:sldLayoutId xmlns:r="http://schemas.openxmlformats.org/officeDocument/2006/relationships" id="2147483654" r:id="R844126a800f240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37d0ad36c4119" /><Relationship Type="http://schemas.openxmlformats.org/officeDocument/2006/relationships/notesSlide" Target="/ppt/notesSlides/notesSlide1.xml" Id="R6d2d3603bb6a44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af9cf77e14fec" /><Relationship Type="http://schemas.openxmlformats.org/officeDocument/2006/relationships/notesSlide" Target="/ppt/notesSlides/notesSlide2.xml" Id="R2c4ef971ed2b49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5f5e7fa664ba8" /><Relationship Type="http://schemas.openxmlformats.org/officeDocument/2006/relationships/image" Target="/ppt/media/image.png" Id="Rcb531d321dc14e37" /><Relationship Type="http://schemas.openxmlformats.org/officeDocument/2006/relationships/notesSlide" Target="/ppt/notesSlides/notesSlide3.xml" Id="Rf785003d840e43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a7dba798048a3" /><Relationship Type="http://schemas.openxmlformats.org/officeDocument/2006/relationships/image" Target="/ppt/media/image2.png" Id="Rea6dcdfbecf34d07" /><Relationship Type="http://schemas.openxmlformats.org/officeDocument/2006/relationships/image" Target="/ppt/media/image3.png" Id="R04ca756d50a84110" /><Relationship Type="http://schemas.openxmlformats.org/officeDocument/2006/relationships/notesSlide" Target="/ppt/notesSlides/notesSlide4.xml" Id="R56a9411caab44c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b5c4905c4459f" /><Relationship Type="http://schemas.openxmlformats.org/officeDocument/2006/relationships/image" Target="/ppt/media/image4.png" Id="R76c52b7bbe994b89" /><Relationship Type="http://schemas.openxmlformats.org/officeDocument/2006/relationships/notesSlide" Target="/ppt/notesSlides/notesSlide5.xml" Id="R504d1331701d47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037a0a45a4f9f" /><Relationship Type="http://schemas.openxmlformats.org/officeDocument/2006/relationships/notesSlide" Target="/ppt/notesSlides/notesSlide6.xml" Id="R61b5857dd4fb4a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27CCC-7026-48BD-8A52-EFB763FD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D776D"/>
                </a:solidFill>
              </a:defRPr>
            </a:defPPr>
            <a:lvl1pPr>
              <a:defRPr sz="1050" b="1">
                <a:solidFill>
                  <a:srgbClr val="0D776D"/>
                </a:solidFill>
              </a:defRPr>
            </a:lvl1pPr>
            <a:lvl2pPr>
              <a:defRPr sz="1050" b="1">
                <a:solidFill>
                  <a:srgbClr val="0D776D"/>
                </a:solidFill>
              </a:defRPr>
            </a:lvl2pPr>
            <a:lvl3pPr>
              <a:defRPr sz="1050" b="1">
                <a:solidFill>
                  <a:srgbClr val="0D776D"/>
                </a:solidFill>
              </a:defRPr>
            </a:lvl3pPr>
            <a:lvl4pPr>
              <a:defRPr sz="1050" b="1">
                <a:solidFill>
                  <a:srgbClr val="0D776D"/>
                </a:solidFill>
              </a:defRPr>
            </a:lvl4pPr>
            <a:lvl5pPr>
              <a:defRPr sz="1050" b="1">
                <a:solidFill>
                  <a:srgbClr val="0D776D"/>
                </a:solidFill>
              </a:defRPr>
            </a:lvl5pPr>
            <a:lvl6pPr>
              <a:defRPr sz="1050" b="1">
                <a:solidFill>
                  <a:srgbClr val="0D776D"/>
                </a:solidFill>
              </a:defRPr>
            </a:lvl6pPr>
            <a:lvl7pPr>
              <a:defRPr sz="1050" b="1">
                <a:solidFill>
                  <a:srgbClr val="0D776D"/>
                </a:solidFill>
              </a:defRPr>
            </a:lvl7pPr>
            <a:lvl8pPr>
              <a:defRPr sz="1050" b="1">
                <a:solidFill>
                  <a:srgbClr val="0D776D"/>
                </a:solidFill>
              </a:defRPr>
            </a:lvl8pPr>
            <a:lvl9pPr>
              <a:defRPr sz="105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776D"/>
                </a:solidFill>
              </a:defRPr>
            </a:pPr>
            <a:r>
              <a:rPr sz="1050" b="1">
                <a:solidFill>
                  <a:srgbClr val="0D776D"/>
                </a:solidFill>
              </a:rPr>
              <a:t>CEREBRO / SMART INTAKE + BUSINESS-AWARE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F328B-22F5-4BB7-B748-9B3D5FCD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38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3B41"/>
                </a:solidFill>
              </a:defRPr>
            </a:defPPr>
            <a:lvl1pPr>
              <a:defRPr sz="3900" b="1">
                <a:solidFill>
                  <a:srgbClr val="153B41"/>
                </a:solidFill>
              </a:defRPr>
            </a:lvl1pPr>
            <a:lvl2pPr>
              <a:defRPr sz="3900" b="1">
                <a:solidFill>
                  <a:srgbClr val="153B41"/>
                </a:solidFill>
              </a:defRPr>
            </a:lvl2pPr>
            <a:lvl3pPr>
              <a:defRPr sz="3900" b="1">
                <a:solidFill>
                  <a:srgbClr val="153B41"/>
                </a:solidFill>
              </a:defRPr>
            </a:lvl3pPr>
            <a:lvl4pPr>
              <a:defRPr sz="3900" b="1">
                <a:solidFill>
                  <a:srgbClr val="153B41"/>
                </a:solidFill>
              </a:defRPr>
            </a:lvl4pPr>
            <a:lvl5pPr>
              <a:defRPr sz="3900" b="1">
                <a:solidFill>
                  <a:srgbClr val="153B41"/>
                </a:solidFill>
              </a:defRPr>
            </a:lvl5pPr>
            <a:lvl6pPr>
              <a:defRPr sz="3900" b="1">
                <a:solidFill>
                  <a:srgbClr val="153B41"/>
                </a:solidFill>
              </a:defRPr>
            </a:lvl6pPr>
            <a:lvl7pPr>
              <a:defRPr sz="3900" b="1">
                <a:solidFill>
                  <a:srgbClr val="153B41"/>
                </a:solidFill>
              </a:defRPr>
            </a:lvl7pPr>
            <a:lvl8pPr>
              <a:defRPr sz="3900" b="1">
                <a:solidFill>
                  <a:srgbClr val="153B41"/>
                </a:solidFill>
              </a:defRPr>
            </a:lvl8pPr>
            <a:lvl9pPr>
              <a:defRPr sz="39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53B41"/>
                </a:solidFill>
              </a:defRPr>
            </a:pPr>
            <a:r>
              <a:rPr sz="3900" b="1">
                <a:solidFill>
                  <a:srgbClr val="153B41"/>
                </a:solidFill>
              </a:rPr>
              <a:t>From rough input to a business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AF190-F4CB-47E6-8C9B-8296253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07D7A"/>
                </a:solidFill>
              </a:defRPr>
            </a:defPPr>
            <a:lvl1pPr>
              <a:defRPr sz="1725" b="0">
                <a:solidFill>
                  <a:srgbClr val="607D7A"/>
                </a:solidFill>
              </a:defRPr>
            </a:lvl1pPr>
            <a:lvl2pPr>
              <a:defRPr sz="1725" b="0">
                <a:solidFill>
                  <a:srgbClr val="607D7A"/>
                </a:solidFill>
              </a:defRPr>
            </a:lvl2pPr>
            <a:lvl3pPr>
              <a:defRPr sz="1725" b="0">
                <a:solidFill>
                  <a:srgbClr val="607D7A"/>
                </a:solidFill>
              </a:defRPr>
            </a:lvl3pPr>
            <a:lvl4pPr>
              <a:defRPr sz="1725" b="0">
                <a:solidFill>
                  <a:srgbClr val="607D7A"/>
                </a:solidFill>
              </a:defRPr>
            </a:lvl4pPr>
            <a:lvl5pPr>
              <a:defRPr sz="1725" b="0">
                <a:solidFill>
                  <a:srgbClr val="607D7A"/>
                </a:solidFill>
              </a:defRPr>
            </a:lvl5pPr>
            <a:lvl6pPr>
              <a:defRPr sz="1725" b="0">
                <a:solidFill>
                  <a:srgbClr val="607D7A"/>
                </a:solidFill>
              </a:defRPr>
            </a:lvl6pPr>
            <a:lvl7pPr>
              <a:defRPr sz="1725" b="0">
                <a:solidFill>
                  <a:srgbClr val="607D7A"/>
                </a:solidFill>
              </a:defRPr>
            </a:lvl7pPr>
            <a:lvl8pPr>
              <a:defRPr sz="1725" b="0">
                <a:solidFill>
                  <a:srgbClr val="607D7A"/>
                </a:solidFill>
              </a:defRPr>
            </a:lvl8pPr>
            <a:lvl9pPr>
              <a:defRPr sz="17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D7A"/>
                </a:solidFill>
              </a:defRPr>
            </a:pPr>
            <a:r>
              <a:rPr sz="1725" b="0">
                <a:solidFill>
                  <a:srgbClr val="607D7A"/>
                </a:solidFill>
              </a:rPr>
              <a:t>Four AI microservices with extraction, validation, model selection, and explainable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DA012-36C5-440E-A8A5-0F071BB1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D776D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296D9-6A10-4D65-A10E-12C8B4D2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180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Simple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Smart intake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Model-ready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Decision output</a:t>
            </a:r>
          </a:p>
        </p:txBody>
      </p:sp>
    </p:spTree>
    <p:extLst>
      <p:ext uri="{BB962C8B-B14F-4D97-AF65-F5344CB8AC3E}">
        <p14:creationId xmlns:p14="http://schemas.microsoft.com/office/powerpoint/2010/main" val="2022459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C77EF-469B-40F4-88BF-8CD84C16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THE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85984-06AF-436E-B6DA-441BC462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Cerebro is a decision-support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61FBC-BA3A-48E2-A572-0F4A37A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user sees a clear business task. Technical details remain available when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3391D-8296-4E3A-87DC-0BD54415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1579B-A81F-42A5-ABB2-846E41CB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ADA7F-7396-44BA-890E-6D9CAD3F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Simple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B82F9-A08D-4F66-9E70-0AE7E6C2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Paste a brief, posting, facts, or upload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D8EE7-8DA6-4780-A350-2A1C4D6C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99422-679D-41CB-8F92-85E9BD44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75ADA-8130-496C-8CC3-14BD7BCD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Smart 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0CCC2-7B3B-477C-86DF-261B606C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Extract facts, normalize values, flag missing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22EF3-9EEB-485D-9368-C698F0BB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46714-C538-4DFD-8642-D150B8D7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84AB2-B37F-4D5E-9A35-8C7BE96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Validated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DAAB4-2CD5-41B7-AF38-C170083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Use the compatible model or statistical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D0F1C-9711-4D6D-8493-623DFFFC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96834-D311-4831-B7A3-C77A0F7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8B9AE-C858-4136-9F86-FEB6CC67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Business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E3C2C-C9BE-4254-A878-6A18442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Explain the signal, assumptions, and next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BEE63-4D5D-4C94-83F4-5446395D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D7A"/>
                </a:solidFill>
              </a:defRPr>
            </a:defPPr>
            <a:lvl1pPr>
              <a:defRPr sz="975" b="0">
                <a:solidFill>
                  <a:srgbClr val="607D7A"/>
                </a:solidFill>
              </a:defRPr>
            </a:lvl1pPr>
            <a:lvl2pPr>
              <a:defRPr sz="975" b="0">
                <a:solidFill>
                  <a:srgbClr val="607D7A"/>
                </a:solidFill>
              </a:defRPr>
            </a:lvl2pPr>
            <a:lvl3pPr>
              <a:defRPr sz="975" b="0">
                <a:solidFill>
                  <a:srgbClr val="607D7A"/>
                </a:solidFill>
              </a:defRPr>
            </a:lvl3pPr>
            <a:lvl4pPr>
              <a:defRPr sz="975" b="0">
                <a:solidFill>
                  <a:srgbClr val="607D7A"/>
                </a:solidFill>
              </a:defRPr>
            </a:lvl4pPr>
            <a:lvl5pPr>
              <a:defRPr sz="975" b="0">
                <a:solidFill>
                  <a:srgbClr val="607D7A"/>
                </a:solidFill>
              </a:defRPr>
            </a:lvl5pPr>
            <a:lvl6pPr>
              <a:defRPr sz="975" b="0">
                <a:solidFill>
                  <a:srgbClr val="607D7A"/>
                </a:solidFill>
              </a:defRPr>
            </a:lvl6pPr>
            <a:lvl7pPr>
              <a:defRPr sz="975" b="0">
                <a:solidFill>
                  <a:srgbClr val="607D7A"/>
                </a:solidFill>
              </a:defRPr>
            </a:lvl7pPr>
            <a:lvl8pPr>
              <a:defRPr sz="975" b="0">
                <a:solidFill>
                  <a:srgbClr val="607D7A"/>
                </a:solidFill>
              </a:defRPr>
            </a:lvl8pPr>
            <a:lvl9pPr>
              <a:defRPr sz="97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D7A"/>
                </a:solidFill>
              </a:defRPr>
            </a:pPr>
            <a:r>
              <a:rPr sz="975" b="0">
                <a:solidFill>
                  <a:srgbClr val="607D7A"/>
                </a:solidFill>
              </a:rPr>
              <a:t>Ports preserved: gateway 8900 · fraud 8901 · hiring 8902 · demand 8903 · product 8904 · frontend 8905</a:t>
            </a:r>
          </a:p>
        </p:txBody>
      </p:sp>
    </p:spTree>
    <p:extLst>
      <p:ext uri="{BB962C8B-B14F-4D97-AF65-F5344CB8AC3E}">
        <p14:creationId xmlns:p14="http://schemas.microsoft.com/office/powerpoint/2010/main" val="155326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463AF-87D8-4E00-8A6A-5B4CDE7D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FRAUD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F7784-36A1-407A-915C-6304464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A job warning with evidence, not a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09C41-8F6D-472D-A570-17F7981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workflow combines the saved classifier with deterministic combination rules and verification actions.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DE5E0-BBD0-46F4-BF13-468CC4414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31d321dc14e37"/>
          <a:srcRect xmlns:a="http://schemas.openxmlformats.org/drawingml/2006/main" l="0" t="21169" r="0" b="21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52625"/>
            <a:ext cx="5905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7C108-B5B7-4414-83E8-C41E8FA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095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9AE24-8C8F-4D3A-94CA-D27B038C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What changed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AC189-51BE-4E0F-9520-38FDD7C2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3333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Paste one posting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Extract pay, contact, domains, and requests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Highlight exact evidence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Separate model signal from advisory level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Recommend independent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No rule match never lowers the model signal.</a:t>
            </a:r>
          </a:p>
        </p:txBody>
      </p:sp>
    </p:spTree>
    <p:extLst>
      <p:ext uri="{BB962C8B-B14F-4D97-AF65-F5344CB8AC3E}">
        <p14:creationId xmlns:p14="http://schemas.microsoft.com/office/powerpoint/2010/main" val="1752933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05134-EA97-4E6F-A0E9-A832FF45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HIRING +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5AEB4-BABE-40C9-94A5-BCC1BADF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Generation starts from 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6C613-069F-44DC-ACC6-29CB652F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Gemma 3 4B adds structure and useful recommendations while preserving supplied facts.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0D157-D7E9-4C3A-BF5D-D7269C691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dcdfbecf34d07"/>
          <a:srcRect xmlns:a="http://schemas.openxmlformats.org/drawingml/2006/main" l="0" t="26320" r="0" b="26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955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987AF-3E2A-466A-A6A6-8B46DD293F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a756d50a84110"/>
          <a:srcRect xmlns:a="http://schemas.openxmlformats.org/drawingml/2006/main" l="0" t="18748" r="0" b="18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0955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B0617-B9D9-4BD6-8949-A1F8008B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D7A"/>
                </a:solidFill>
              </a:defRPr>
            </a:defPPr>
            <a:lvl1pPr>
              <a:defRPr sz="1050" b="0">
                <a:solidFill>
                  <a:srgbClr val="607D7A"/>
                </a:solidFill>
              </a:defRPr>
            </a:lvl1pPr>
            <a:lvl2pPr>
              <a:defRPr sz="1050" b="0">
                <a:solidFill>
                  <a:srgbClr val="607D7A"/>
                </a:solidFill>
              </a:defRPr>
            </a:lvl2pPr>
            <a:lvl3pPr>
              <a:defRPr sz="1050" b="0">
                <a:solidFill>
                  <a:srgbClr val="607D7A"/>
                </a:solidFill>
              </a:defRPr>
            </a:lvl3pPr>
            <a:lvl4pPr>
              <a:defRPr sz="1050" b="0">
                <a:solidFill>
                  <a:srgbClr val="607D7A"/>
                </a:solidFill>
              </a:defRPr>
            </a:lvl4pPr>
            <a:lvl5pPr>
              <a:defRPr sz="1050" b="0">
                <a:solidFill>
                  <a:srgbClr val="607D7A"/>
                </a:solidFill>
              </a:defRPr>
            </a:lvl5pPr>
            <a:lvl6pPr>
              <a:defRPr sz="1050" b="0">
                <a:solidFill>
                  <a:srgbClr val="607D7A"/>
                </a:solidFill>
              </a:defRPr>
            </a:lvl6pPr>
            <a:lvl7pPr>
              <a:defRPr sz="1050" b="0">
                <a:solidFill>
                  <a:srgbClr val="607D7A"/>
                </a:solidFill>
              </a:defRPr>
            </a:lvl7pPr>
            <a:lvl8pPr>
              <a:defRPr sz="1050" b="0">
                <a:solidFill>
                  <a:srgbClr val="607D7A"/>
                </a:solidFill>
              </a:defRPr>
            </a:lvl8pPr>
            <a:lvl9pPr>
              <a:defRPr sz="10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D7A"/>
                </a:solidFill>
              </a:defRPr>
            </a:pPr>
            <a:r>
              <a:rPr sz="1050" b="0">
                <a:solidFill>
                  <a:srgbClr val="607D7A"/>
                </a:solidFill>
              </a:rPr>
              <a:t>Rough brief → outcomes, interview kit, exercise, onboarding, and publishable copy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E2C64-9280-432D-B66B-3A6FC196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D7A"/>
                </a:solidFill>
              </a:defRPr>
            </a:defPPr>
            <a:lvl1pPr>
              <a:defRPr sz="1050" b="0">
                <a:solidFill>
                  <a:srgbClr val="607D7A"/>
                </a:solidFill>
              </a:defRPr>
            </a:lvl1pPr>
            <a:lvl2pPr>
              <a:defRPr sz="1050" b="0">
                <a:solidFill>
                  <a:srgbClr val="607D7A"/>
                </a:solidFill>
              </a:defRPr>
            </a:lvl2pPr>
            <a:lvl3pPr>
              <a:defRPr sz="1050" b="0">
                <a:solidFill>
                  <a:srgbClr val="607D7A"/>
                </a:solidFill>
              </a:defRPr>
            </a:lvl3pPr>
            <a:lvl4pPr>
              <a:defRPr sz="1050" b="0">
                <a:solidFill>
                  <a:srgbClr val="607D7A"/>
                </a:solidFill>
              </a:defRPr>
            </a:lvl4pPr>
            <a:lvl5pPr>
              <a:defRPr sz="1050" b="0">
                <a:solidFill>
                  <a:srgbClr val="607D7A"/>
                </a:solidFill>
              </a:defRPr>
            </a:lvl5pPr>
            <a:lvl6pPr>
              <a:defRPr sz="1050" b="0">
                <a:solidFill>
                  <a:srgbClr val="607D7A"/>
                </a:solidFill>
              </a:defRPr>
            </a:lvl6pPr>
            <a:lvl7pPr>
              <a:defRPr sz="1050" b="0">
                <a:solidFill>
                  <a:srgbClr val="607D7A"/>
                </a:solidFill>
              </a:defRPr>
            </a:lvl7pPr>
            <a:lvl8pPr>
              <a:defRPr sz="1050" b="0">
                <a:solidFill>
                  <a:srgbClr val="607D7A"/>
                </a:solidFill>
              </a:defRPr>
            </a:lvl8pPr>
            <a:lvl9pPr>
              <a:defRPr sz="10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D7A"/>
                </a:solidFill>
              </a:defRPr>
            </a:pPr>
            <a:r>
              <a:rPr sz="1050" b="0">
                <a:solidFill>
                  <a:srgbClr val="607D7A"/>
                </a:solidFill>
              </a:rPr>
              <a:t>Verified facts → benefits, buyer questions, missing information, and grounded references</a:t>
            </a:r>
          </a:p>
        </p:txBody>
      </p:sp>
    </p:spTree>
    <p:extLst>
      <p:ext uri="{BB962C8B-B14F-4D97-AF65-F5344CB8AC3E}">
        <p14:creationId xmlns:p14="http://schemas.microsoft.com/office/powerpoint/2010/main" val="511270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BABA5-D129-4D1C-95E0-75C1A13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DEMAND FORECASTING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0B47A-D272-4B11-995D-A39C5B36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A product-aware inventory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8A683-2B63-4078-908A-EEF2EDE5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User histories use compatible statistical methods. M5 series keep the validated M5 model. No-history products receive scenario planning, not fake forecasts.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1CC0F-B42B-4C20-8A4D-A86BBF60C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52b7bbe994b89"/>
          <a:srcRect xmlns:a="http://schemas.openxmlformats.org/drawingml/2006/main" l="0" t="17801" r="0" b="17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52625"/>
            <a:ext cx="6477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4A38D-425F-417A-870C-2D749480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714750" cy="4095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4D7B5-FA3E-4E16-AF2F-0ACC1DA5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3B21F-721F-4EDF-8EC9-F8C8173F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66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76D"/>
                </a:solidFill>
              </a:defRPr>
            </a:defPPr>
            <a:lvl1pPr>
              <a:defRPr sz="1500" b="1">
                <a:solidFill>
                  <a:srgbClr val="0D776D"/>
                </a:solidFill>
              </a:defRPr>
            </a:lvl1pPr>
            <a:lvl2pPr>
              <a:defRPr sz="1500" b="1">
                <a:solidFill>
                  <a:srgbClr val="0D776D"/>
                </a:solidFill>
              </a:defRPr>
            </a:lvl2pPr>
            <a:lvl3pPr>
              <a:defRPr sz="1500" b="1">
                <a:solidFill>
                  <a:srgbClr val="0D776D"/>
                </a:solidFill>
              </a:defRPr>
            </a:lvl3pPr>
            <a:lvl4pPr>
              <a:defRPr sz="1500" b="1">
                <a:solidFill>
                  <a:srgbClr val="0D776D"/>
                </a:solidFill>
              </a:defRPr>
            </a:lvl4pPr>
            <a:lvl5pPr>
              <a:defRPr sz="1500" b="1">
                <a:solidFill>
                  <a:srgbClr val="0D776D"/>
                </a:solidFill>
              </a:defRPr>
            </a:lvl5pPr>
            <a:lvl6pPr>
              <a:defRPr sz="1500" b="1">
                <a:solidFill>
                  <a:srgbClr val="0D776D"/>
                </a:solidFill>
              </a:defRPr>
            </a:lvl6pPr>
            <a:lvl7pPr>
              <a:defRPr sz="1500" b="1">
                <a:solidFill>
                  <a:srgbClr val="0D776D"/>
                </a:solidFill>
              </a:defRPr>
            </a:lvl7pPr>
            <a:lvl8pPr>
              <a:defRPr sz="1500" b="1">
                <a:solidFill>
                  <a:srgbClr val="0D776D"/>
                </a:solidFill>
              </a:defRPr>
            </a:lvl8pPr>
            <a:lvl9pPr>
              <a:defRPr sz="15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Named product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Data readiness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Chronological validation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Method comparison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Lead-time demand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Safety stock assumptions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Recommended order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Stockout warnings</a:t>
            </a:r>
          </a:p>
        </p:txBody>
      </p:sp>
    </p:spTree>
    <p:extLst>
      <p:ext uri="{BB962C8B-B14F-4D97-AF65-F5344CB8AC3E}">
        <p14:creationId xmlns:p14="http://schemas.microsoft.com/office/powerpoint/2010/main" val="1956112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42D5B-3A5E-4A7C-90F2-00444C8B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BEFORE /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31C5C-B79E-4A8F-A841-BE186C7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The upgrade changes what the user can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E085C-A4B2-45CA-8C8D-33222CD6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platform now exposes the preparation and assumptions needed for responsible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057C5-B580-4212-A9E5-B3F8AB4E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857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90F8A-B907-4EFF-8F6F-31A0236C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857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F0E7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E7B6E-E625-46A1-A8F4-D8DBA0E0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4A34A"/>
                </a:solidFill>
              </a:defRPr>
            </a:defPPr>
            <a:lvl1pPr>
              <a:defRPr sz="1050" b="1">
                <a:solidFill>
                  <a:srgbClr val="D4A34A"/>
                </a:solidFill>
              </a:defRPr>
            </a:lvl1pPr>
            <a:lvl2pPr>
              <a:defRPr sz="1050" b="1">
                <a:solidFill>
                  <a:srgbClr val="D4A34A"/>
                </a:solidFill>
              </a:defRPr>
            </a:lvl2pPr>
            <a:lvl3pPr>
              <a:defRPr sz="1050" b="1">
                <a:solidFill>
                  <a:srgbClr val="D4A34A"/>
                </a:solidFill>
              </a:defRPr>
            </a:lvl3pPr>
            <a:lvl4pPr>
              <a:defRPr sz="1050" b="1">
                <a:solidFill>
                  <a:srgbClr val="D4A34A"/>
                </a:solidFill>
              </a:defRPr>
            </a:lvl4pPr>
            <a:lvl5pPr>
              <a:defRPr sz="1050" b="1">
                <a:solidFill>
                  <a:srgbClr val="D4A34A"/>
                </a:solidFill>
              </a:defRPr>
            </a:lvl5pPr>
            <a:lvl6pPr>
              <a:defRPr sz="1050" b="1">
                <a:solidFill>
                  <a:srgbClr val="D4A34A"/>
                </a:solidFill>
              </a:defRPr>
            </a:lvl6pPr>
            <a:lvl7pPr>
              <a:defRPr sz="1050" b="1">
                <a:solidFill>
                  <a:srgbClr val="D4A34A"/>
                </a:solidFill>
              </a:defRPr>
            </a:lvl7pPr>
            <a:lvl8pPr>
              <a:defRPr sz="1050" b="1">
                <a:solidFill>
                  <a:srgbClr val="D4A34A"/>
                </a:solidFill>
              </a:defRPr>
            </a:lvl8pPr>
            <a:lvl9pPr>
              <a:defRPr sz="1050" b="1">
                <a:solidFill>
                  <a:srgbClr val="D4A3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4A34A"/>
                </a:solidFill>
              </a:defRPr>
            </a:pPr>
            <a:r>
              <a:rPr sz="1050" b="1">
                <a:solidFill>
                  <a:srgbClr val="D4A34A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17B2B-ADBA-481D-BD95-0F49F7B4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B41"/>
                </a:solidFill>
              </a:defRPr>
            </a:defPPr>
            <a:lvl1pPr>
              <a:defRPr sz="1875" b="1">
                <a:solidFill>
                  <a:srgbClr val="153B41"/>
                </a:solidFill>
              </a:defRPr>
            </a:lvl1pPr>
            <a:lvl2pPr>
              <a:defRPr sz="1875" b="1">
                <a:solidFill>
                  <a:srgbClr val="153B41"/>
                </a:solidFill>
              </a:defRPr>
            </a:lvl2pPr>
            <a:lvl3pPr>
              <a:defRPr sz="1875" b="1">
                <a:solidFill>
                  <a:srgbClr val="153B41"/>
                </a:solidFill>
              </a:defRPr>
            </a:lvl3pPr>
            <a:lvl4pPr>
              <a:defRPr sz="1875" b="1">
                <a:solidFill>
                  <a:srgbClr val="153B41"/>
                </a:solidFill>
              </a:defRPr>
            </a:lvl4pPr>
            <a:lvl5pPr>
              <a:defRPr sz="1875" b="1">
                <a:solidFill>
                  <a:srgbClr val="153B41"/>
                </a:solidFill>
              </a:defRPr>
            </a:lvl5pPr>
            <a:lvl6pPr>
              <a:defRPr sz="1875" b="1">
                <a:solidFill>
                  <a:srgbClr val="153B41"/>
                </a:solidFill>
              </a:defRPr>
            </a:lvl6pPr>
            <a:lvl7pPr>
              <a:defRPr sz="1875" b="1">
                <a:solidFill>
                  <a:srgbClr val="153B41"/>
                </a:solidFill>
              </a:defRPr>
            </a:lvl7pPr>
            <a:lvl8pPr>
              <a:defRPr sz="1875" b="1">
                <a:solidFill>
                  <a:srgbClr val="153B41"/>
                </a:solidFill>
              </a:defRPr>
            </a:lvl8pPr>
            <a:lvl9pPr>
              <a:defRPr sz="1875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Raw sales rows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Generic forecast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Random catalog similarity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One fraud score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Job-description paraphrase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E21F6-FB9F-4570-B9A9-51D3C064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D776D"/>
                </a:solidFill>
              </a:defRPr>
            </a:defPPr>
            <a:lvl1pPr>
              <a:defRPr sz="1050" b="1">
                <a:solidFill>
                  <a:srgbClr val="0D776D"/>
                </a:solidFill>
              </a:defRPr>
            </a:lvl1pPr>
            <a:lvl2pPr>
              <a:defRPr sz="1050" b="1">
                <a:solidFill>
                  <a:srgbClr val="0D776D"/>
                </a:solidFill>
              </a:defRPr>
            </a:lvl2pPr>
            <a:lvl3pPr>
              <a:defRPr sz="1050" b="1">
                <a:solidFill>
                  <a:srgbClr val="0D776D"/>
                </a:solidFill>
              </a:defRPr>
            </a:lvl3pPr>
            <a:lvl4pPr>
              <a:defRPr sz="1050" b="1">
                <a:solidFill>
                  <a:srgbClr val="0D776D"/>
                </a:solidFill>
              </a:defRPr>
            </a:lvl4pPr>
            <a:lvl5pPr>
              <a:defRPr sz="1050" b="1">
                <a:solidFill>
                  <a:srgbClr val="0D776D"/>
                </a:solidFill>
              </a:defRPr>
            </a:lvl5pPr>
            <a:lvl6pPr>
              <a:defRPr sz="1050" b="1">
                <a:solidFill>
                  <a:srgbClr val="0D776D"/>
                </a:solidFill>
              </a:defRPr>
            </a:lvl6pPr>
            <a:lvl7pPr>
              <a:defRPr sz="1050" b="1">
                <a:solidFill>
                  <a:srgbClr val="0D776D"/>
                </a:solidFill>
              </a:defRPr>
            </a:lvl7pPr>
            <a:lvl8pPr>
              <a:defRPr sz="1050" b="1">
                <a:solidFill>
                  <a:srgbClr val="0D776D"/>
                </a:solidFill>
              </a:defRPr>
            </a:lvl8pPr>
            <a:lvl9pPr>
              <a:defRPr sz="105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776D"/>
                </a:solidFill>
              </a:defRPr>
            </a:pPr>
            <a:r>
              <a:rPr sz="1050" b="1">
                <a:solidFill>
                  <a:srgbClr val="0D776D"/>
                </a:solidFill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982CF-12B0-43FF-8FE3-C471D590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B41"/>
                </a:solidFill>
              </a:defRPr>
            </a:defPPr>
            <a:lvl1pPr>
              <a:defRPr sz="1875" b="1">
                <a:solidFill>
                  <a:srgbClr val="153B41"/>
                </a:solidFill>
              </a:defRPr>
            </a:lvl1pPr>
            <a:lvl2pPr>
              <a:defRPr sz="1875" b="1">
                <a:solidFill>
                  <a:srgbClr val="153B41"/>
                </a:solidFill>
              </a:defRPr>
            </a:lvl2pPr>
            <a:lvl3pPr>
              <a:defRPr sz="1875" b="1">
                <a:solidFill>
                  <a:srgbClr val="153B41"/>
                </a:solidFill>
              </a:defRPr>
            </a:lvl3pPr>
            <a:lvl4pPr>
              <a:defRPr sz="1875" b="1">
                <a:solidFill>
                  <a:srgbClr val="153B41"/>
                </a:solidFill>
              </a:defRPr>
            </a:lvl4pPr>
            <a:lvl5pPr>
              <a:defRPr sz="1875" b="1">
                <a:solidFill>
                  <a:srgbClr val="153B41"/>
                </a:solidFill>
              </a:defRPr>
            </a:lvl5pPr>
            <a:lvl6pPr>
              <a:defRPr sz="1875" b="1">
                <a:solidFill>
                  <a:srgbClr val="153B41"/>
                </a:solidFill>
              </a:defRPr>
            </a:lvl6pPr>
            <a:lvl7pPr>
              <a:defRPr sz="1875" b="1">
                <a:solidFill>
                  <a:srgbClr val="153B41"/>
                </a:solidFill>
              </a:defRPr>
            </a:lvl7pPr>
            <a:lvl8pPr>
              <a:defRPr sz="1875" b="1">
                <a:solidFill>
                  <a:srgbClr val="153B41"/>
                </a:solidFill>
              </a:defRPr>
            </a:lvl8pPr>
            <a:lvl9pPr>
              <a:defRPr sz="1875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Named product and history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Readiness and validation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Catalog abstention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Evidence and next checks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Complete hiring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16505-1C56-44B8-8E1D-24E8A29E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platform supports a decision while showing what it knows, what it assumes, and what remains missing.</a:t>
            </a:r>
          </a:p>
        </p:txBody>
      </p:sp>
    </p:spTree>
    <p:extLst>
      <p:ext uri="{BB962C8B-B14F-4D97-AF65-F5344CB8AC3E}">
        <p14:creationId xmlns:p14="http://schemas.microsoft.com/office/powerpoint/2010/main" val="343114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2026-10-18T14:28:46.2880000Z</dcterms:created>
  <dcterms:modified xsi:type="dcterms:W3CDTF">2026-10-18T14:28:46.2880000Z</dcterms:modified>
</coreProperties>
</file>